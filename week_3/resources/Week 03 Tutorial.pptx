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alatino Linotype"/>
      <p:regular r:id="rId19"/>
      <p:bold r:id="rId20"/>
      <p:italic r:id="rId21"/>
      <p:boldItalic r:id="rId22"/>
    </p:embeddedFont>
    <p:embeddedFont>
      <p:font typeface="Book Antiqua"/>
      <p:regular r:id="rId23"/>
      <p:bold r:id="rId24"/>
      <p:italic r:id="rId25"/>
      <p:boldItalic r:id="rId26"/>
    </p:embeddedFont>
    <p:embeddedFont>
      <p:font typeface="Bell M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xISLb7QTqhP+X/IrLLwcEEyN4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3591FC-C83D-4445-B601-26CE026C29E6}">
  <a:tblStyle styleId="{C83591FC-C83D-4445-B601-26CE026C29E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BB1265FE-61D2-4059-B1E3-3573D91E4E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alatinoLinotype-bold.fntdata"/><Relationship Id="rId22" Type="http://schemas.openxmlformats.org/officeDocument/2006/relationships/font" Target="fonts/PalatinoLinotype-boldItalic.fntdata"/><Relationship Id="rId21" Type="http://schemas.openxmlformats.org/officeDocument/2006/relationships/font" Target="fonts/PalatinoLinotype-italic.fntdata"/><Relationship Id="rId24" Type="http://schemas.openxmlformats.org/officeDocument/2006/relationships/font" Target="fonts/BookAntiqua-bold.fntdata"/><Relationship Id="rId23" Type="http://schemas.openxmlformats.org/officeDocument/2006/relationships/font" Target="fonts/BookAntiqu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ookAntiqua-boldItalic.fntdata"/><Relationship Id="rId25" Type="http://schemas.openxmlformats.org/officeDocument/2006/relationships/font" Target="fonts/BookAntiqua-italic.fntdata"/><Relationship Id="rId28" Type="http://schemas.openxmlformats.org/officeDocument/2006/relationships/font" Target="fonts/BellMT-bold.fntdata"/><Relationship Id="rId27" Type="http://schemas.openxmlformats.org/officeDocument/2006/relationships/font" Target="fonts/BellM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ellM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BellM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alatinoLinotype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04f66d5eb_0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04f66d5eb_0_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04f66d5eb_0_1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04f66d5eb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d04f66d5eb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04f66d5e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04f66d5e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d04f66d5e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04f66d5eb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d04f66d5eb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04f66d5eb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d04f66d5eb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d04f66d5eb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04f66d5eb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d04f66d5eb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d04f66d5eb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Artificial Intelligence and Machine Learning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6CS012 - Week 03 –Sunita Parajuli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04f66d5eb_0_197"/>
          <p:cNvSpPr txBox="1"/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7F6000"/>
                </a:solidFill>
                <a:latin typeface="Bell MT"/>
                <a:ea typeface="Bell MT"/>
                <a:cs typeface="Bell MT"/>
                <a:sym typeface="Bell MT"/>
              </a:rPr>
              <a:t>The Perceptron Model.</a:t>
            </a:r>
            <a:endParaRPr b="1" sz="48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6" name="Google Shape;96;g3d04f66d5eb_0_197"/>
          <p:cNvSpPr txBox="1"/>
          <p:nvPr/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The </a:t>
            </a:r>
            <a:r>
              <a:rPr b="1" lang="en-US" sz="1900">
                <a:solidFill>
                  <a:srgbClr val="7F6000"/>
                </a:solidFill>
                <a:latin typeface="Book Antiqua"/>
                <a:ea typeface="Book Antiqua"/>
                <a:cs typeface="Book Antiqua"/>
                <a:sym typeface="Book Antiqua"/>
              </a:rPr>
              <a:t>Perceptron</a:t>
            </a:r>
            <a:r>
              <a:rPr lang="en-US" sz="19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, introduced by </a:t>
            </a:r>
            <a:r>
              <a:rPr b="1" lang="en-US" sz="1900">
                <a:solidFill>
                  <a:srgbClr val="660033"/>
                </a:solidFill>
                <a:latin typeface="Book Antiqua"/>
                <a:ea typeface="Book Antiqua"/>
                <a:cs typeface="Book Antiqua"/>
                <a:sym typeface="Book Antiqua"/>
              </a:rPr>
              <a:t>Frank Rosenblatt</a:t>
            </a:r>
            <a:r>
              <a:rPr lang="en-US" sz="1900">
                <a:solidFill>
                  <a:srgbClr val="660033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19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and later corrected by </a:t>
            </a:r>
            <a:r>
              <a:rPr b="1" lang="en-US" sz="1900">
                <a:solidFill>
                  <a:srgbClr val="FF0000"/>
                </a:solidFill>
                <a:latin typeface="Book Antiqua"/>
                <a:ea typeface="Book Antiqua"/>
                <a:cs typeface="Book Antiqua"/>
                <a:sym typeface="Book Antiqua"/>
              </a:rPr>
              <a:t>Minsky and Papert</a:t>
            </a:r>
            <a:r>
              <a:rPr lang="en-US" sz="19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, extends the </a:t>
            </a:r>
            <a:r>
              <a:rPr b="1" lang="en-US" sz="1900">
                <a:solidFill>
                  <a:srgbClr val="660033"/>
                </a:solidFill>
                <a:latin typeface="Book Antiqua"/>
                <a:ea typeface="Book Antiqua"/>
                <a:cs typeface="Book Antiqua"/>
                <a:sym typeface="Book Antiqua"/>
              </a:rPr>
              <a:t>McCulloch-Pitts neuron</a:t>
            </a:r>
            <a:r>
              <a:rPr lang="en-US" sz="1900">
                <a:solidFill>
                  <a:srgbClr val="660033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 sz="2000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41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by incorporating </a:t>
            </a:r>
            <a:r>
              <a:rPr b="1" lang="en-US" sz="1900">
                <a:solidFill>
                  <a:srgbClr val="C55A11"/>
                </a:solidFill>
                <a:latin typeface="Book Antiqua"/>
                <a:ea typeface="Book Antiqua"/>
                <a:cs typeface="Book Antiqua"/>
                <a:sym typeface="Book Antiqua"/>
              </a:rPr>
              <a:t>learnable numerical weights</a:t>
            </a:r>
            <a:r>
              <a:rPr lang="en-US" sz="1900">
                <a:solidFill>
                  <a:srgbClr val="C55A1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19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and </a:t>
            </a:r>
            <a:endParaRPr sz="2000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41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an </a:t>
            </a:r>
            <a:r>
              <a:rPr b="1" lang="en-US" sz="1900">
                <a:solidFill>
                  <a:srgbClr val="1F3864"/>
                </a:solidFill>
                <a:latin typeface="Book Antiqua"/>
                <a:ea typeface="Book Antiqua"/>
                <a:cs typeface="Book Antiqua"/>
                <a:sym typeface="Book Antiqua"/>
              </a:rPr>
              <a:t>adaptive learning process</a:t>
            </a:r>
            <a:r>
              <a:rPr lang="en-US" sz="19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.</a:t>
            </a:r>
            <a:endParaRPr sz="2000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41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It serves as a </a:t>
            </a:r>
            <a:r>
              <a:rPr b="1" lang="en-US" sz="1900">
                <a:solidFill>
                  <a:srgbClr val="CC0000"/>
                </a:solidFill>
                <a:latin typeface="Book Antiqua"/>
                <a:ea typeface="Book Antiqua"/>
                <a:cs typeface="Book Antiqua"/>
                <a:sym typeface="Book Antiqua"/>
              </a:rPr>
              <a:t>Linear Binary Classifier</a:t>
            </a:r>
            <a:r>
              <a:rPr lang="en-US" sz="19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, dividing data into two categories based on a linear decision boundary.</a:t>
            </a:r>
            <a:endParaRPr sz="2000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20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97" name="Google Shape;97;g3d04f66d5eb_0_197"/>
          <p:cNvSpPr txBox="1"/>
          <p:nvPr/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3/7/2025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04f66d5eb_0_197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g3d04f66d5eb_0_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3592387">
            <a:off x="2559061" y="3561606"/>
            <a:ext cx="3344790" cy="368822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d04f66d5eb_0_197"/>
          <p:cNvSpPr txBox="1"/>
          <p:nvPr/>
        </p:nvSpPr>
        <p:spPr>
          <a:xfrm>
            <a:off x="5936136" y="5958879"/>
            <a:ext cx="247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33C0B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Reminds you of something?</a:t>
            </a:r>
            <a:endParaRPr b="1" sz="1400">
              <a:solidFill>
                <a:srgbClr val="833C0B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Perceptron Algorithm</a:t>
            </a:r>
            <a:endParaRPr/>
          </a:p>
        </p:txBody>
      </p:sp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latin typeface="Book Antiqua"/>
                <a:ea typeface="Book Antiqua"/>
                <a:cs typeface="Book Antiqua"/>
                <a:sym typeface="Book Antiqua"/>
              </a:rPr>
              <a:t>The perceptron algorithm is built around a </a:t>
            </a:r>
            <a:r>
              <a:rPr i="1" lang="en-US" sz="2600">
                <a:latin typeface="Book Antiqua"/>
                <a:ea typeface="Book Antiqua"/>
                <a:cs typeface="Book Antiqua"/>
                <a:sym typeface="Book Antiqua"/>
              </a:rPr>
              <a:t>single neuron </a:t>
            </a:r>
            <a:r>
              <a:rPr lang="en-US" sz="2600">
                <a:latin typeface="Book Antiqua"/>
                <a:ea typeface="Book Antiqua"/>
                <a:cs typeface="Book Antiqua"/>
                <a:sym typeface="Book Antiqua"/>
              </a:rPr>
              <a:t>and it</a:t>
            </a:r>
            <a:r>
              <a:rPr i="1" lang="en-US" sz="2600"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US" sz="2600">
                <a:latin typeface="Book Antiqua"/>
                <a:ea typeface="Book Antiqua"/>
                <a:cs typeface="Book Antiqua"/>
                <a:sym typeface="Book Antiqua"/>
              </a:rPr>
              <a:t>is limited to performing pattern classification with only two classes (for example: 0 and 1 class or 1 and -1 class, called as binary class)</a:t>
            </a:r>
            <a:endParaRPr sz="2600"/>
          </a:p>
          <a:p>
            <a:pPr indent="-215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latin typeface="Book Antiqua"/>
                <a:ea typeface="Book Antiqua"/>
                <a:cs typeface="Book Antiqua"/>
                <a:sym typeface="Book Antiqua"/>
              </a:rPr>
              <a:t>The perceptron is the simplest form of a neural network used for the classifying linearly separable patterns. Patterns that can be separated by a hyperplane are called linearly separable patterns. 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7" name="Google Shape;1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8391" y="4634305"/>
            <a:ext cx="1891359" cy="1677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idx="1" type="body"/>
          </p:nvPr>
        </p:nvSpPr>
        <p:spPr>
          <a:xfrm>
            <a:off x="1390650" y="628650"/>
            <a:ext cx="1011555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latin typeface="Book Antiqua"/>
                <a:ea typeface="Book Antiqua"/>
                <a:cs typeface="Book Antiqua"/>
                <a:sym typeface="Book Antiqua"/>
              </a:rPr>
              <a:t>Perceptron can be trained to show behavior of AND function and OR function because both are linearly separable. </a:t>
            </a:r>
            <a:endParaRPr sz="26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13" name="Google Shape;113;p28"/>
          <p:cNvSpPr/>
          <p:nvPr/>
        </p:nvSpPr>
        <p:spPr>
          <a:xfrm>
            <a:off x="5105400" y="358483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8"/>
          <p:cNvSpPr/>
          <p:nvPr/>
        </p:nvSpPr>
        <p:spPr>
          <a:xfrm>
            <a:off x="7146851" y="4077602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8"/>
          <p:cNvSpPr/>
          <p:nvPr/>
        </p:nvSpPr>
        <p:spPr>
          <a:xfrm>
            <a:off x="3414956" y="411124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8"/>
          <p:cNvSpPr/>
          <p:nvPr/>
        </p:nvSpPr>
        <p:spPr>
          <a:xfrm>
            <a:off x="7072672" y="4096647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8"/>
          <p:cNvSpPr/>
          <p:nvPr/>
        </p:nvSpPr>
        <p:spPr>
          <a:xfrm>
            <a:off x="3208986" y="39570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8"/>
          <p:cNvSpPr/>
          <p:nvPr/>
        </p:nvSpPr>
        <p:spPr>
          <a:xfrm>
            <a:off x="7146851" y="3849002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8"/>
          <p:cNvSpPr/>
          <p:nvPr/>
        </p:nvSpPr>
        <p:spPr>
          <a:xfrm>
            <a:off x="3414956" y="313239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28"/>
          <p:cNvGrpSpPr/>
          <p:nvPr/>
        </p:nvGrpSpPr>
        <p:grpSpPr>
          <a:xfrm>
            <a:off x="2235994" y="2773062"/>
            <a:ext cx="2590800" cy="2362200"/>
            <a:chOff x="762000" y="1524000"/>
            <a:chExt cx="2590800" cy="2362200"/>
          </a:xfrm>
        </p:grpSpPr>
        <p:cxnSp>
          <p:nvCxnSpPr>
            <p:cNvPr id="121" name="Google Shape;121;p28"/>
            <p:cNvCxnSpPr/>
            <p:nvPr/>
          </p:nvCxnSpPr>
          <p:spPr>
            <a:xfrm>
              <a:off x="1676400" y="1676400"/>
              <a:ext cx="0" cy="22098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none"/>
            </a:ln>
          </p:spPr>
        </p:cxnSp>
        <p:cxnSp>
          <p:nvCxnSpPr>
            <p:cNvPr id="122" name="Google Shape;122;p28"/>
            <p:cNvCxnSpPr/>
            <p:nvPr/>
          </p:nvCxnSpPr>
          <p:spPr>
            <a:xfrm rot="10800000">
              <a:off x="762000" y="3048000"/>
              <a:ext cx="2438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none"/>
            </a:ln>
          </p:spPr>
        </p:cxnSp>
        <p:sp>
          <p:nvSpPr>
            <p:cNvPr id="123" name="Google Shape;123;p28"/>
            <p:cNvSpPr txBox="1"/>
            <p:nvPr/>
          </p:nvSpPr>
          <p:spPr>
            <a:xfrm>
              <a:off x="2895600" y="2514600"/>
              <a:ext cx="44608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aseline="-2500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8"/>
            <p:cNvSpPr txBox="1"/>
            <p:nvPr/>
          </p:nvSpPr>
          <p:spPr>
            <a:xfrm>
              <a:off x="1752600" y="1524000"/>
              <a:ext cx="44608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aseline="-2500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5" name="Google Shape;125;p28"/>
            <p:cNvCxnSpPr/>
            <p:nvPr/>
          </p:nvCxnSpPr>
          <p:spPr>
            <a:xfrm>
              <a:off x="1295400" y="1676400"/>
              <a:ext cx="2057400" cy="1828800"/>
            </a:xfrm>
            <a:prstGeom prst="straightConnector1">
              <a:avLst/>
            </a:prstGeom>
            <a:noFill/>
            <a:ln cap="flat" cmpd="sng" w="57150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6" name="Google Shape;126;p28"/>
            <p:cNvSpPr/>
            <p:nvPr/>
          </p:nvSpPr>
          <p:spPr>
            <a:xfrm>
              <a:off x="2286000" y="2209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27" name="Google Shape;127;p28"/>
            <p:cNvSpPr/>
            <p:nvPr/>
          </p:nvSpPr>
          <p:spPr>
            <a:xfrm>
              <a:off x="1524000" y="2209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128" name="Google Shape;128;p28"/>
            <p:cNvSpPr/>
            <p:nvPr/>
          </p:nvSpPr>
          <p:spPr>
            <a:xfrm>
              <a:off x="1524000" y="2819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129" name="Google Shape;129;p28"/>
            <p:cNvSpPr/>
            <p:nvPr/>
          </p:nvSpPr>
          <p:spPr>
            <a:xfrm>
              <a:off x="2286000" y="2819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</p:grpSp>
      <p:grpSp>
        <p:nvGrpSpPr>
          <p:cNvPr id="130" name="Google Shape;130;p28"/>
          <p:cNvGrpSpPr/>
          <p:nvPr/>
        </p:nvGrpSpPr>
        <p:grpSpPr>
          <a:xfrm>
            <a:off x="5017691" y="2726032"/>
            <a:ext cx="2579688" cy="2362200"/>
            <a:chOff x="4991100" y="3502672"/>
            <a:chExt cx="2579688" cy="2362200"/>
          </a:xfrm>
        </p:grpSpPr>
        <p:cxnSp>
          <p:nvCxnSpPr>
            <p:cNvPr id="131" name="Google Shape;131;p28"/>
            <p:cNvCxnSpPr/>
            <p:nvPr/>
          </p:nvCxnSpPr>
          <p:spPr>
            <a:xfrm>
              <a:off x="5905500" y="3655072"/>
              <a:ext cx="0" cy="22098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none"/>
            </a:ln>
          </p:spPr>
        </p:cxnSp>
        <p:cxnSp>
          <p:nvCxnSpPr>
            <p:cNvPr id="132" name="Google Shape;132;p28"/>
            <p:cNvCxnSpPr/>
            <p:nvPr/>
          </p:nvCxnSpPr>
          <p:spPr>
            <a:xfrm rot="10800000">
              <a:off x="4991100" y="5026672"/>
              <a:ext cx="2438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none"/>
            </a:ln>
          </p:spPr>
        </p:cxnSp>
        <p:sp>
          <p:nvSpPr>
            <p:cNvPr id="133" name="Google Shape;133;p28"/>
            <p:cNvSpPr txBox="1"/>
            <p:nvPr/>
          </p:nvSpPr>
          <p:spPr>
            <a:xfrm>
              <a:off x="7124700" y="4493272"/>
              <a:ext cx="44608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aseline="-2500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8"/>
            <p:cNvSpPr txBox="1"/>
            <p:nvPr/>
          </p:nvSpPr>
          <p:spPr>
            <a:xfrm>
              <a:off x="5981700" y="3502672"/>
              <a:ext cx="44608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aseline="-2500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5" name="Google Shape;135;p28"/>
            <p:cNvCxnSpPr/>
            <p:nvPr/>
          </p:nvCxnSpPr>
          <p:spPr>
            <a:xfrm>
              <a:off x="5181600" y="3974153"/>
              <a:ext cx="2057400" cy="1828800"/>
            </a:xfrm>
            <a:prstGeom prst="straightConnector1">
              <a:avLst/>
            </a:prstGeom>
            <a:noFill/>
            <a:ln cap="flat" cmpd="sng" w="57150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6" name="Google Shape;136;p28"/>
            <p:cNvSpPr/>
            <p:nvPr/>
          </p:nvSpPr>
          <p:spPr>
            <a:xfrm>
              <a:off x="6515100" y="4131322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37" name="Google Shape;137;p28"/>
            <p:cNvSpPr/>
            <p:nvPr/>
          </p:nvSpPr>
          <p:spPr>
            <a:xfrm>
              <a:off x="5753100" y="4074172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8"/>
            <p:cNvSpPr/>
            <p:nvPr/>
          </p:nvSpPr>
          <p:spPr>
            <a:xfrm>
              <a:off x="5753100" y="4798072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139" name="Google Shape;139;p28"/>
            <p:cNvSpPr/>
            <p:nvPr/>
          </p:nvSpPr>
          <p:spPr>
            <a:xfrm>
              <a:off x="6515100" y="4798072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28"/>
          <p:cNvSpPr txBox="1"/>
          <p:nvPr/>
        </p:nvSpPr>
        <p:spPr>
          <a:xfrm>
            <a:off x="2346034" y="5135262"/>
            <a:ext cx="22072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Fig: AND Function</a:t>
            </a:r>
            <a:endParaRPr b="1"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5365313" y="5288518"/>
            <a:ext cx="22072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Fig: OR Function</a:t>
            </a:r>
            <a:endParaRPr b="1"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cxnSp>
        <p:nvCxnSpPr>
          <p:cNvPr id="142" name="Google Shape;142;p28"/>
          <p:cNvCxnSpPr/>
          <p:nvPr/>
        </p:nvCxnSpPr>
        <p:spPr>
          <a:xfrm>
            <a:off x="8637985" y="2878432"/>
            <a:ext cx="0" cy="2209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143" name="Google Shape;143;p28"/>
          <p:cNvCxnSpPr/>
          <p:nvPr/>
        </p:nvCxnSpPr>
        <p:spPr>
          <a:xfrm rot="10800000">
            <a:off x="7723585" y="4250032"/>
            <a:ext cx="2438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sp>
        <p:nvSpPr>
          <p:cNvPr id="144" name="Google Shape;144;p28"/>
          <p:cNvSpPr txBox="1"/>
          <p:nvPr/>
        </p:nvSpPr>
        <p:spPr>
          <a:xfrm>
            <a:off x="9857185" y="3716632"/>
            <a:ext cx="446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8714185" y="2726032"/>
            <a:ext cx="446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8"/>
          <p:cNvSpPr/>
          <p:nvPr/>
        </p:nvSpPr>
        <p:spPr>
          <a:xfrm>
            <a:off x="9247585" y="3411832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8"/>
          <p:cNvSpPr/>
          <p:nvPr/>
        </p:nvSpPr>
        <p:spPr>
          <a:xfrm>
            <a:off x="8485585" y="3411832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8"/>
          <p:cNvSpPr/>
          <p:nvPr/>
        </p:nvSpPr>
        <p:spPr>
          <a:xfrm>
            <a:off x="8485585" y="4021432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9" name="Google Shape;149;p28"/>
          <p:cNvSpPr/>
          <p:nvPr/>
        </p:nvSpPr>
        <p:spPr>
          <a:xfrm>
            <a:off x="9247585" y="4021432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8143981" y="5254405"/>
            <a:ext cx="22072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Fig: XOR Function</a:t>
            </a:r>
            <a:endParaRPr b="1"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09599" y="131968"/>
            <a:ext cx="11039475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 u="sng">
                <a:latin typeface="Book Antiqua"/>
                <a:ea typeface="Book Antiqua"/>
                <a:cs typeface="Book Antiqua"/>
                <a:sym typeface="Book Antiqua"/>
              </a:rPr>
              <a:t>Perceptron Learning Algorithm</a:t>
            </a:r>
            <a:endParaRPr/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Book Antiqua"/>
                <a:ea typeface="Book Antiqua"/>
                <a:cs typeface="Book Antiqua"/>
                <a:sym typeface="Book Antiqua"/>
              </a:rPr>
              <a:t>Initialize all weights (w) and bias (b) to zero</a:t>
            </a:r>
            <a:endParaRPr/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Book Antiqua"/>
                <a:ea typeface="Book Antiqua"/>
                <a:cs typeface="Book Antiqua"/>
                <a:sym typeface="Book Antiqua"/>
              </a:rPr>
              <a:t>For each training vector x and actual target </a:t>
            </a:r>
            <a:r>
              <a:rPr b="1" lang="en-US" sz="2800">
                <a:latin typeface="Book Antiqua"/>
                <a:ea typeface="Book Antiqua"/>
                <a:cs typeface="Book Antiqua"/>
                <a:sym typeface="Book Antiqua"/>
              </a:rPr>
              <a:t>‘t’ (desired output)</a:t>
            </a:r>
            <a:endParaRPr b="1" i="1"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Book Antiqua"/>
                <a:ea typeface="Book Antiqua"/>
                <a:cs typeface="Book Antiqua"/>
                <a:sym typeface="Book Antiqua"/>
              </a:rPr>
              <a:t>Compute output </a:t>
            </a:r>
            <a:r>
              <a:rPr i="1" lang="en-US" sz="2800"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lang="en-US" sz="2800">
                <a:latin typeface="Book Antiqua"/>
                <a:ea typeface="Book Antiqua"/>
                <a:cs typeface="Book Antiqua"/>
                <a:sym typeface="Book Antiqua"/>
              </a:rPr>
              <a:t> from </a:t>
            </a:r>
            <a:r>
              <a:rPr i="1" lang="en-US" sz="2800">
                <a:latin typeface="Book Antiqua"/>
                <a:ea typeface="Book Antiqua"/>
                <a:cs typeface="Book Antiqua"/>
                <a:sym typeface="Book Antiqua"/>
              </a:rPr>
              <a:t>y</a:t>
            </a:r>
            <a:r>
              <a:rPr baseline="-25000" i="1" lang="en-US" sz="2800">
                <a:latin typeface="Book Antiqua"/>
                <a:ea typeface="Book Antiqua"/>
                <a:cs typeface="Book Antiqua"/>
                <a:sym typeface="Book Antiqua"/>
              </a:rPr>
              <a:t>in</a:t>
            </a:r>
            <a:r>
              <a:rPr lang="en-US" sz="2800">
                <a:latin typeface="Book Antiqua"/>
                <a:ea typeface="Book Antiqua"/>
                <a:cs typeface="Book Antiqua"/>
                <a:sym typeface="Book Antiqua"/>
              </a:rPr>
              <a:t> using activation function ‘f’:</a:t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365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1"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365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1"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Update</a:t>
            </a:r>
            <a:r>
              <a:rPr lang="en-US" sz="2800">
                <a:latin typeface="Book Antiqua"/>
                <a:ea typeface="Book Antiqua"/>
                <a:cs typeface="Book Antiqua"/>
                <a:sym typeface="Book Antiqua"/>
              </a:rPr>
              <a:t> weights as:</a:t>
            </a:r>
            <a:endParaRPr/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Book Antiqua"/>
                <a:ea typeface="Book Antiqua"/>
                <a:cs typeface="Book Antiqua"/>
                <a:sym typeface="Book Antiqua"/>
              </a:rPr>
              <a:t>Update bias as:</a:t>
            </a:r>
            <a:endParaRPr/>
          </a:p>
          <a:p>
            <a:pPr indent="-514350" lvl="0" marL="5143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Repeat updating weight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        and bias until desired output.</a:t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56" name="Google Shape;156;p30"/>
          <p:cNvSpPr/>
          <p:nvPr/>
        </p:nvSpPr>
        <p:spPr>
          <a:xfrm>
            <a:off x="3200400" y="4419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0"/>
          <p:cNvSpPr/>
          <p:nvPr/>
        </p:nvSpPr>
        <p:spPr>
          <a:xfrm>
            <a:off x="5241851" y="4912372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0"/>
          <p:cNvSpPr/>
          <p:nvPr/>
        </p:nvSpPr>
        <p:spPr>
          <a:xfrm>
            <a:off x="1509956" y="494601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0"/>
          <p:cNvSpPr/>
          <p:nvPr/>
        </p:nvSpPr>
        <p:spPr>
          <a:xfrm>
            <a:off x="5167672" y="4931417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0"/>
          <p:cNvSpPr/>
          <p:nvPr/>
        </p:nvSpPr>
        <p:spPr>
          <a:xfrm>
            <a:off x="1303986" y="479183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0"/>
          <p:cNvSpPr/>
          <p:nvPr/>
        </p:nvSpPr>
        <p:spPr>
          <a:xfrm>
            <a:off x="5241851" y="4683772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0"/>
          <p:cNvSpPr/>
          <p:nvPr/>
        </p:nvSpPr>
        <p:spPr>
          <a:xfrm>
            <a:off x="1509956" y="396716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5612" y="2952603"/>
            <a:ext cx="44100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9070" y="3468540"/>
            <a:ext cx="1687512" cy="33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7425" y="1968869"/>
            <a:ext cx="4016375" cy="86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30"/>
          <p:cNvGrpSpPr/>
          <p:nvPr/>
        </p:nvGrpSpPr>
        <p:grpSpPr>
          <a:xfrm>
            <a:off x="7552029" y="4113257"/>
            <a:ext cx="3957682" cy="1969532"/>
            <a:chOff x="1447800" y="2590800"/>
            <a:chExt cx="3957682" cy="1969532"/>
          </a:xfrm>
        </p:grpSpPr>
        <p:sp>
          <p:nvSpPr>
            <p:cNvPr id="167" name="Google Shape;167;p30"/>
            <p:cNvSpPr/>
            <p:nvPr/>
          </p:nvSpPr>
          <p:spPr>
            <a:xfrm>
              <a:off x="1509956" y="3967169"/>
              <a:ext cx="1847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0"/>
            <p:cNvSpPr/>
            <p:nvPr/>
          </p:nvSpPr>
          <p:spPr>
            <a:xfrm>
              <a:off x="3200400" y="29718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9" name="Google Shape;169;p30"/>
            <p:cNvCxnSpPr>
              <a:stCxn id="170" idx="3"/>
            </p:cNvCxnSpPr>
            <p:nvPr/>
          </p:nvCxnSpPr>
          <p:spPr>
            <a:xfrm>
              <a:off x="1901026" y="2851666"/>
              <a:ext cx="1299300" cy="424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171" name="Google Shape;171;p30"/>
            <p:cNvCxnSpPr>
              <a:endCxn id="168" idx="2"/>
            </p:cNvCxnSpPr>
            <p:nvPr/>
          </p:nvCxnSpPr>
          <p:spPr>
            <a:xfrm flipH="1" rot="10800000">
              <a:off x="1905000" y="3429000"/>
              <a:ext cx="1295400" cy="304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172" name="Google Shape;172;p30"/>
            <p:cNvCxnSpPr>
              <a:stCxn id="173" idx="3"/>
            </p:cNvCxnSpPr>
            <p:nvPr/>
          </p:nvCxnSpPr>
          <p:spPr>
            <a:xfrm flipH="1" rot="10800000">
              <a:off x="2044668" y="3657466"/>
              <a:ext cx="1200600" cy="718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174" name="Google Shape;174;p30"/>
            <p:cNvCxnSpPr/>
            <p:nvPr/>
          </p:nvCxnSpPr>
          <p:spPr>
            <a:xfrm>
              <a:off x="4114800" y="3429000"/>
              <a:ext cx="914400" cy="1588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170" name="Google Shape;170;p30"/>
            <p:cNvSpPr txBox="1"/>
            <p:nvPr/>
          </p:nvSpPr>
          <p:spPr>
            <a:xfrm>
              <a:off x="1524000" y="2667000"/>
              <a:ext cx="37702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x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175" name="Google Shape;175;p30"/>
            <p:cNvSpPr txBox="1"/>
            <p:nvPr/>
          </p:nvSpPr>
          <p:spPr>
            <a:xfrm>
              <a:off x="1447800" y="3581400"/>
              <a:ext cx="37702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x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173" name="Google Shape;173;p30"/>
            <p:cNvSpPr txBox="1"/>
            <p:nvPr/>
          </p:nvSpPr>
          <p:spPr>
            <a:xfrm>
              <a:off x="1752600" y="4191000"/>
              <a:ext cx="2920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b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176" name="Google Shape;176;p30"/>
            <p:cNvSpPr txBox="1"/>
            <p:nvPr/>
          </p:nvSpPr>
          <p:spPr>
            <a:xfrm>
              <a:off x="5105400" y="3200400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y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177" name="Google Shape;177;p30"/>
            <p:cNvSpPr txBox="1"/>
            <p:nvPr/>
          </p:nvSpPr>
          <p:spPr>
            <a:xfrm>
              <a:off x="2209800" y="25908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w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178" name="Google Shape;178;p30"/>
            <p:cNvSpPr txBox="1"/>
            <p:nvPr/>
          </p:nvSpPr>
          <p:spPr>
            <a:xfrm>
              <a:off x="2057400" y="32004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w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cxnSp>
          <p:nvCxnSpPr>
            <p:cNvPr id="179" name="Google Shape;179;p30"/>
            <p:cNvCxnSpPr>
              <a:stCxn id="168" idx="0"/>
              <a:endCxn id="168" idx="4"/>
            </p:cNvCxnSpPr>
            <p:nvPr/>
          </p:nvCxnSpPr>
          <p:spPr>
            <a:xfrm>
              <a:off x="3657600" y="2971800"/>
              <a:ext cx="0" cy="91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80" name="Google Shape;180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276600" y="3244266"/>
              <a:ext cx="381000" cy="331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3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733800" y="3200400"/>
              <a:ext cx="304800" cy="355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2" name="Google Shape;182;p30"/>
          <p:cNvSpPr txBox="1"/>
          <p:nvPr/>
        </p:nvSpPr>
        <p:spPr>
          <a:xfrm>
            <a:off x="1152526" y="5053104"/>
            <a:ext cx="54266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α is learning rate, 0 &lt;= α &lt;= 1 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/>
        </p:nvSpPr>
        <p:spPr>
          <a:xfrm>
            <a:off x="0" y="64532"/>
            <a:ext cx="120110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ook Antiqua"/>
              <a:buNone/>
            </a:pPr>
            <a:r>
              <a:rPr lang="en-US" sz="42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Realizing AND gate using One Neuron (Perceptron Algorithm)</a:t>
            </a:r>
            <a:endParaRPr sz="42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1370263" y="1207525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1" lang="en-US" sz="2800" u="sng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Example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Train the following perceptron  by using given training set</a:t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89" name="Google Shape;189;p31"/>
          <p:cNvSpPr/>
          <p:nvPr/>
        </p:nvSpPr>
        <p:spPr>
          <a:xfrm>
            <a:off x="4838700" y="4343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1"/>
          <p:cNvSpPr/>
          <p:nvPr/>
        </p:nvSpPr>
        <p:spPr>
          <a:xfrm>
            <a:off x="6880151" y="4836172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1"/>
          <p:cNvSpPr/>
          <p:nvPr/>
        </p:nvSpPr>
        <p:spPr>
          <a:xfrm>
            <a:off x="3148256" y="486981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1"/>
          <p:cNvSpPr/>
          <p:nvPr/>
        </p:nvSpPr>
        <p:spPr>
          <a:xfrm>
            <a:off x="6805972" y="4855217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1"/>
          <p:cNvSpPr/>
          <p:nvPr/>
        </p:nvSpPr>
        <p:spPr>
          <a:xfrm>
            <a:off x="2942286" y="471563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1"/>
          <p:cNvSpPr/>
          <p:nvPr/>
        </p:nvSpPr>
        <p:spPr>
          <a:xfrm>
            <a:off x="6880151" y="4607572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31"/>
          <p:cNvGraphicFramePr/>
          <p:nvPr/>
        </p:nvGraphicFramePr>
        <p:xfrm>
          <a:off x="6667500" y="320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{C83591FC-C83D-4445-B601-26CE026C29E6}</a:tableStyleId>
              </a:tblPr>
              <a:tblGrid>
                <a:gridCol w="1447800"/>
                <a:gridCol w="1143000"/>
                <a:gridCol w="129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x</a:t>
                      </a:r>
                      <a:r>
                        <a:rPr baseline="-25000" i="1" lang="en-US" sz="1800" u="none" cap="none" strike="noStrike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x</a:t>
                      </a:r>
                      <a:r>
                        <a:rPr baseline="-25000"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Target (t) x1 AND x2</a:t>
                      </a:r>
                      <a:endParaRPr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96" name="Google Shape;196;p31"/>
          <p:cNvGrpSpPr/>
          <p:nvPr/>
        </p:nvGrpSpPr>
        <p:grpSpPr>
          <a:xfrm>
            <a:off x="1767925" y="2737363"/>
            <a:ext cx="3957682" cy="1969532"/>
            <a:chOff x="1447800" y="2590800"/>
            <a:chExt cx="3957682" cy="1969532"/>
          </a:xfrm>
        </p:grpSpPr>
        <p:sp>
          <p:nvSpPr>
            <p:cNvPr id="197" name="Google Shape;197;p31"/>
            <p:cNvSpPr/>
            <p:nvPr/>
          </p:nvSpPr>
          <p:spPr>
            <a:xfrm>
              <a:off x="1509956" y="3967169"/>
              <a:ext cx="1847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1"/>
            <p:cNvSpPr/>
            <p:nvPr/>
          </p:nvSpPr>
          <p:spPr>
            <a:xfrm>
              <a:off x="3200400" y="29718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9" name="Google Shape;199;p31"/>
            <p:cNvCxnSpPr>
              <a:stCxn id="200" idx="3"/>
            </p:cNvCxnSpPr>
            <p:nvPr/>
          </p:nvCxnSpPr>
          <p:spPr>
            <a:xfrm>
              <a:off x="1901026" y="2851666"/>
              <a:ext cx="1299300" cy="424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01" name="Google Shape;201;p31"/>
            <p:cNvCxnSpPr>
              <a:endCxn id="198" idx="2"/>
            </p:cNvCxnSpPr>
            <p:nvPr/>
          </p:nvCxnSpPr>
          <p:spPr>
            <a:xfrm flipH="1" rot="10800000">
              <a:off x="1905000" y="3429000"/>
              <a:ext cx="1295400" cy="304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02" name="Google Shape;202;p31"/>
            <p:cNvCxnSpPr>
              <a:stCxn id="203" idx="3"/>
            </p:cNvCxnSpPr>
            <p:nvPr/>
          </p:nvCxnSpPr>
          <p:spPr>
            <a:xfrm flipH="1" rot="10800000">
              <a:off x="2044668" y="3657466"/>
              <a:ext cx="1200600" cy="718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04" name="Google Shape;204;p31"/>
            <p:cNvCxnSpPr/>
            <p:nvPr/>
          </p:nvCxnSpPr>
          <p:spPr>
            <a:xfrm>
              <a:off x="4114800" y="3429000"/>
              <a:ext cx="914400" cy="1588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200" name="Google Shape;200;p31"/>
            <p:cNvSpPr txBox="1"/>
            <p:nvPr/>
          </p:nvSpPr>
          <p:spPr>
            <a:xfrm>
              <a:off x="1524000" y="2667000"/>
              <a:ext cx="37702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x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05" name="Google Shape;205;p31"/>
            <p:cNvSpPr txBox="1"/>
            <p:nvPr/>
          </p:nvSpPr>
          <p:spPr>
            <a:xfrm>
              <a:off x="1447800" y="3581400"/>
              <a:ext cx="37702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x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03" name="Google Shape;203;p31"/>
            <p:cNvSpPr txBox="1"/>
            <p:nvPr/>
          </p:nvSpPr>
          <p:spPr>
            <a:xfrm>
              <a:off x="1752600" y="4191000"/>
              <a:ext cx="2920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b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06" name="Google Shape;206;p31"/>
            <p:cNvSpPr txBox="1"/>
            <p:nvPr/>
          </p:nvSpPr>
          <p:spPr>
            <a:xfrm>
              <a:off x="5105400" y="3200400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y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07" name="Google Shape;207;p31"/>
            <p:cNvSpPr txBox="1"/>
            <p:nvPr/>
          </p:nvSpPr>
          <p:spPr>
            <a:xfrm>
              <a:off x="2209800" y="25908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w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08" name="Google Shape;208;p31"/>
            <p:cNvSpPr txBox="1"/>
            <p:nvPr/>
          </p:nvSpPr>
          <p:spPr>
            <a:xfrm>
              <a:off x="2057400" y="32004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w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cxnSp>
          <p:nvCxnSpPr>
            <p:cNvPr id="209" name="Google Shape;209;p31"/>
            <p:cNvCxnSpPr>
              <a:stCxn id="198" idx="0"/>
              <a:endCxn id="198" idx="4"/>
            </p:cNvCxnSpPr>
            <p:nvPr/>
          </p:nvCxnSpPr>
          <p:spPr>
            <a:xfrm>
              <a:off x="3657600" y="2971800"/>
              <a:ext cx="0" cy="91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210" name="Google Shape;210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76600" y="3244266"/>
              <a:ext cx="381000" cy="331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33800" y="3200400"/>
              <a:ext cx="304800" cy="355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2" name="Google Shape;21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050" y="5084975"/>
            <a:ext cx="5022775" cy="133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04f66d5eb_0_70"/>
          <p:cNvSpPr txBox="1"/>
          <p:nvPr>
            <p:ph idx="1" type="body"/>
          </p:nvPr>
        </p:nvSpPr>
        <p:spPr>
          <a:xfrm>
            <a:off x="971153" y="59968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i="1" lang="en-US" sz="2800" u="sng">
                <a:latin typeface="Book Antiqua"/>
                <a:ea typeface="Book Antiqua"/>
                <a:cs typeface="Book Antiqua"/>
                <a:sym typeface="Book Antiqua"/>
              </a:rPr>
              <a:t>Solution:</a:t>
            </a:r>
            <a:r>
              <a:rPr b="1" i="1" lang="en-US" sz="2800">
                <a:latin typeface="Book Antiqua"/>
                <a:ea typeface="Book Antiqua"/>
                <a:cs typeface="Book Antiqua"/>
                <a:sym typeface="Book Antiqua"/>
              </a:rPr>
              <a:t>  =1</a:t>
            </a:r>
            <a:endParaRPr b="1" i="1" sz="2800" u="sng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Book Antiqua"/>
                <a:ea typeface="Book Antiqua"/>
                <a:cs typeface="Book Antiqua"/>
                <a:sym typeface="Book Antiqua"/>
              </a:rPr>
              <a:t>Iteration#1</a:t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18" name="Google Shape;218;g3d04f66d5eb_0_70"/>
          <p:cNvSpPr/>
          <p:nvPr/>
        </p:nvSpPr>
        <p:spPr>
          <a:xfrm>
            <a:off x="6870626" y="4493272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d04f66d5eb_0_70"/>
          <p:cNvSpPr/>
          <p:nvPr/>
        </p:nvSpPr>
        <p:spPr>
          <a:xfrm>
            <a:off x="3138731" y="452691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d04f66d5eb_0_70"/>
          <p:cNvSpPr/>
          <p:nvPr/>
        </p:nvSpPr>
        <p:spPr>
          <a:xfrm>
            <a:off x="6796447" y="4512317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d04f66d5eb_0_70"/>
          <p:cNvSpPr/>
          <p:nvPr/>
        </p:nvSpPr>
        <p:spPr>
          <a:xfrm>
            <a:off x="2932761" y="4372736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d04f66d5eb_0_70"/>
          <p:cNvSpPr/>
          <p:nvPr/>
        </p:nvSpPr>
        <p:spPr>
          <a:xfrm>
            <a:off x="6870626" y="4264672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g3d04f66d5eb_0_70"/>
          <p:cNvGraphicFramePr/>
          <p:nvPr/>
        </p:nvGraphicFramePr>
        <p:xfrm>
          <a:off x="1103552" y="3038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{C83591FC-C83D-4445-B601-26CE026C29E6}</a:tableStyleId>
              </a:tblPr>
              <a:tblGrid>
                <a:gridCol w="1286725"/>
                <a:gridCol w="885050"/>
                <a:gridCol w="885050"/>
                <a:gridCol w="909025"/>
                <a:gridCol w="607475"/>
                <a:gridCol w="461700"/>
                <a:gridCol w="1783075"/>
                <a:gridCol w="1692125"/>
                <a:gridCol w="1636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Input</a:t>
                      </a:r>
                      <a:endParaRPr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w</a:t>
                      </a:r>
                      <a:r>
                        <a:rPr baseline="-25000"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(old)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w</a:t>
                      </a:r>
                      <a:r>
                        <a:rPr baseline="-25000"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(old)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(old)</a:t>
                      </a:r>
                      <a:endParaRPr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v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y</a:t>
                      </a:r>
                      <a:endParaRPr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w</a:t>
                      </a:r>
                      <a:r>
                        <a:rPr baseline="-25000"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 </a:t>
                      </a: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(new)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w</a:t>
                      </a:r>
                      <a:r>
                        <a:rPr baseline="-25000"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</a:t>
                      </a: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(new)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b</a:t>
                      </a: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(new)</a:t>
                      </a:r>
                      <a:endParaRPr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33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(1,1,1)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0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0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0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0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0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0+1*1*1=1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0+1*1*1=1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0+1*1=1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(1,-1,-1)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1+1*-2*1=-1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1+1*-2*-1=3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1+1*-2=-1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(-1,1,-1)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-1+1*-2*-1=1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3+1*-2*1=1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-1+1*-2=-3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(-1,-1,-1)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-5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1+1*0*-1=1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1+1*0*-1=1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-3+1*0=-3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224" name="Google Shape;224;g3d04f66d5eb_0_70"/>
          <p:cNvGrpSpPr/>
          <p:nvPr/>
        </p:nvGrpSpPr>
        <p:grpSpPr>
          <a:xfrm>
            <a:off x="4230338" y="212587"/>
            <a:ext cx="3153811" cy="1560979"/>
            <a:chOff x="1447800" y="2590800"/>
            <a:chExt cx="3957600" cy="2096400"/>
          </a:xfrm>
        </p:grpSpPr>
        <p:sp>
          <p:nvSpPr>
            <p:cNvPr id="225" name="Google Shape;225;g3d04f66d5eb_0_70"/>
            <p:cNvSpPr/>
            <p:nvPr/>
          </p:nvSpPr>
          <p:spPr>
            <a:xfrm>
              <a:off x="1509956" y="3967169"/>
              <a:ext cx="18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g3d04f66d5eb_0_70"/>
            <p:cNvSpPr/>
            <p:nvPr/>
          </p:nvSpPr>
          <p:spPr>
            <a:xfrm>
              <a:off x="3200400" y="29718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7" name="Google Shape;227;g3d04f66d5eb_0_70"/>
            <p:cNvCxnSpPr>
              <a:stCxn id="228" idx="3"/>
            </p:cNvCxnSpPr>
            <p:nvPr/>
          </p:nvCxnSpPr>
          <p:spPr>
            <a:xfrm>
              <a:off x="1901100" y="3101100"/>
              <a:ext cx="1299300" cy="424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29" name="Google Shape;229;g3d04f66d5eb_0_70"/>
            <p:cNvCxnSpPr>
              <a:endCxn id="226" idx="2"/>
            </p:cNvCxnSpPr>
            <p:nvPr/>
          </p:nvCxnSpPr>
          <p:spPr>
            <a:xfrm flipH="1" rot="10800000">
              <a:off x="1905000" y="3429000"/>
              <a:ext cx="1295400" cy="304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30" name="Google Shape;230;g3d04f66d5eb_0_70"/>
            <p:cNvCxnSpPr>
              <a:stCxn id="231" idx="3"/>
            </p:cNvCxnSpPr>
            <p:nvPr/>
          </p:nvCxnSpPr>
          <p:spPr>
            <a:xfrm flipH="1" rot="10800000">
              <a:off x="2044800" y="3720900"/>
              <a:ext cx="1200600" cy="718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32" name="Google Shape;232;g3d04f66d5eb_0_70"/>
            <p:cNvCxnSpPr/>
            <p:nvPr/>
          </p:nvCxnSpPr>
          <p:spPr>
            <a:xfrm>
              <a:off x="4114800" y="3429000"/>
              <a:ext cx="914400" cy="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228" name="Google Shape;228;g3d04f66d5eb_0_70"/>
            <p:cNvSpPr txBox="1"/>
            <p:nvPr/>
          </p:nvSpPr>
          <p:spPr>
            <a:xfrm>
              <a:off x="1524000" y="2667000"/>
              <a:ext cx="377100" cy="86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x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33" name="Google Shape;233;g3d04f66d5eb_0_70"/>
            <p:cNvSpPr txBox="1"/>
            <p:nvPr/>
          </p:nvSpPr>
          <p:spPr>
            <a:xfrm>
              <a:off x="1447800" y="3581400"/>
              <a:ext cx="377100" cy="86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x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31" name="Google Shape;231;g3d04f66d5eb_0_70"/>
            <p:cNvSpPr txBox="1"/>
            <p:nvPr/>
          </p:nvSpPr>
          <p:spPr>
            <a:xfrm>
              <a:off x="1752600" y="4191000"/>
              <a:ext cx="2922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b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34" name="Google Shape;234;g3d04f66d5eb_0_70"/>
            <p:cNvSpPr txBox="1"/>
            <p:nvPr/>
          </p:nvSpPr>
          <p:spPr>
            <a:xfrm>
              <a:off x="5105400" y="3200400"/>
              <a:ext cx="30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y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35" name="Google Shape;235;g3d04f66d5eb_0_70"/>
            <p:cNvSpPr txBox="1"/>
            <p:nvPr/>
          </p:nvSpPr>
          <p:spPr>
            <a:xfrm>
              <a:off x="2209800" y="2590800"/>
              <a:ext cx="428400" cy="86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w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36" name="Google Shape;236;g3d04f66d5eb_0_70"/>
            <p:cNvSpPr txBox="1"/>
            <p:nvPr/>
          </p:nvSpPr>
          <p:spPr>
            <a:xfrm>
              <a:off x="2057400" y="3200400"/>
              <a:ext cx="428400" cy="86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w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cxnSp>
          <p:nvCxnSpPr>
            <p:cNvPr id="237" name="Google Shape;237;g3d04f66d5eb_0_70"/>
            <p:cNvCxnSpPr>
              <a:stCxn id="226" idx="0"/>
              <a:endCxn id="226" idx="4"/>
            </p:cNvCxnSpPr>
            <p:nvPr/>
          </p:nvCxnSpPr>
          <p:spPr>
            <a:xfrm>
              <a:off x="3657600" y="2971800"/>
              <a:ext cx="0" cy="91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238" name="Google Shape;238;g3d04f66d5eb_0_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76600" y="3244266"/>
              <a:ext cx="381000" cy="3313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g3d04f66d5eb_0_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33800" y="3200400"/>
              <a:ext cx="304799" cy="355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0" name="Google Shape;240;g3d04f66d5eb_0_70"/>
          <p:cNvSpPr/>
          <p:nvPr/>
        </p:nvSpPr>
        <p:spPr>
          <a:xfrm>
            <a:off x="878720" y="2021527"/>
            <a:ext cx="2238900" cy="788700"/>
          </a:xfrm>
          <a:prstGeom prst="wedgeRectCallout">
            <a:avLst>
              <a:gd fmla="val -20408" name="adj1"/>
              <a:gd fmla="val 74575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Input(x1, x2, target)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d04f66d5eb_0_70"/>
          <p:cNvSpPr/>
          <p:nvPr/>
        </p:nvSpPr>
        <p:spPr>
          <a:xfrm>
            <a:off x="4679675" y="2020653"/>
            <a:ext cx="2451000" cy="788700"/>
          </a:xfrm>
          <a:prstGeom prst="wedgeRectCallout">
            <a:avLst>
              <a:gd fmla="val -19279" name="adj1"/>
              <a:gd fmla="val 78197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= w1*x1 + w2*x2 + 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d04f66d5eb_0_70"/>
          <p:cNvSpPr/>
          <p:nvPr/>
        </p:nvSpPr>
        <p:spPr>
          <a:xfrm>
            <a:off x="3231096" y="5777391"/>
            <a:ext cx="2451000" cy="788700"/>
          </a:xfrm>
          <a:prstGeom prst="wedgeRectCallout">
            <a:avLst>
              <a:gd fmla="val 56504" name="adj1"/>
              <a:gd fmla="val -129491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f(v) i.e. activation function applied to v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g3d04f66d5eb_0_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7128" y="5468365"/>
            <a:ext cx="1821467" cy="123543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d04f66d5eb_0_70"/>
          <p:cNvSpPr/>
          <p:nvPr/>
        </p:nvSpPr>
        <p:spPr>
          <a:xfrm>
            <a:off x="8905874" y="5777391"/>
            <a:ext cx="2771700" cy="738300"/>
          </a:xfrm>
          <a:prstGeom prst="wedgeEllipseCallout">
            <a:avLst>
              <a:gd fmla="val -114453" name="adj1"/>
              <a:gd fmla="val -140399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w1 = w1 +</a:t>
            </a:r>
            <a:r>
              <a:rPr b="1" i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*(target-y)*x1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d04f66d5eb_0_70"/>
          <p:cNvSpPr/>
          <p:nvPr/>
        </p:nvSpPr>
        <p:spPr>
          <a:xfrm>
            <a:off x="9519298" y="2048785"/>
            <a:ext cx="2639700" cy="760800"/>
          </a:xfrm>
          <a:prstGeom prst="wedgeEllipseCallout">
            <a:avLst>
              <a:gd fmla="val -2931" name="adj1"/>
              <a:gd fmla="val 79551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b + </a:t>
            </a:r>
            <a:r>
              <a:rPr b="1" i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*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(target-y)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d04f66d5eb_0_70"/>
          <p:cNvSpPr/>
          <p:nvPr/>
        </p:nvSpPr>
        <p:spPr>
          <a:xfrm>
            <a:off x="7956484" y="875536"/>
            <a:ext cx="2644800" cy="1058100"/>
          </a:xfrm>
          <a:prstGeom prst="wedgeEllipseCallout">
            <a:avLst>
              <a:gd fmla="val -4009" name="adj1"/>
              <a:gd fmla="val 15151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w2 = w2 +</a:t>
            </a:r>
            <a:r>
              <a:rPr b="1" i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*(target-y)*x2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idx="1" type="body"/>
          </p:nvPr>
        </p:nvSpPr>
        <p:spPr>
          <a:xfrm>
            <a:off x="895349" y="657225"/>
            <a:ext cx="9854663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Book Antiqua"/>
                <a:ea typeface="Book Antiqua"/>
                <a:cs typeface="Book Antiqua"/>
                <a:sym typeface="Book Antiqua"/>
              </a:rPr>
              <a:t>	Iteration #2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Book Antiqua"/>
                <a:ea typeface="Book Antiqua"/>
                <a:cs typeface="Book Antiqua"/>
                <a:sym typeface="Book Antiqua"/>
              </a:rPr>
              <a:t>Thus, Final Neuron is:</a:t>
            </a:r>
            <a:endParaRPr sz="20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5680001" y="4197997"/>
            <a:ext cx="221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1948106" y="4231644"/>
            <a:ext cx="221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5605822" y="4217042"/>
            <a:ext cx="221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1742136" y="4077461"/>
            <a:ext cx="221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5680001" y="3969397"/>
            <a:ext cx="221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p33"/>
          <p:cNvGrpSpPr/>
          <p:nvPr/>
        </p:nvGrpSpPr>
        <p:grpSpPr>
          <a:xfrm>
            <a:off x="4324350" y="3552825"/>
            <a:ext cx="4739188" cy="1969532"/>
            <a:chOff x="1447800" y="2590800"/>
            <a:chExt cx="3957682" cy="1969532"/>
          </a:xfrm>
        </p:grpSpPr>
        <p:sp>
          <p:nvSpPr>
            <p:cNvPr id="258" name="Google Shape;258;p33"/>
            <p:cNvSpPr/>
            <p:nvPr/>
          </p:nvSpPr>
          <p:spPr>
            <a:xfrm>
              <a:off x="1509956" y="3967169"/>
              <a:ext cx="1847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33"/>
            <p:cNvSpPr/>
            <p:nvPr/>
          </p:nvSpPr>
          <p:spPr>
            <a:xfrm>
              <a:off x="3200400" y="29718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0" name="Google Shape;260;p33"/>
            <p:cNvCxnSpPr>
              <a:stCxn id="261" idx="3"/>
            </p:cNvCxnSpPr>
            <p:nvPr/>
          </p:nvCxnSpPr>
          <p:spPr>
            <a:xfrm>
              <a:off x="1901026" y="2851666"/>
              <a:ext cx="1299300" cy="424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62" name="Google Shape;262;p33"/>
            <p:cNvCxnSpPr>
              <a:endCxn id="259" idx="2"/>
            </p:cNvCxnSpPr>
            <p:nvPr/>
          </p:nvCxnSpPr>
          <p:spPr>
            <a:xfrm flipH="1" rot="10800000">
              <a:off x="1905000" y="3429000"/>
              <a:ext cx="1295400" cy="304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63" name="Google Shape;263;p33"/>
            <p:cNvCxnSpPr>
              <a:stCxn id="264" idx="3"/>
            </p:cNvCxnSpPr>
            <p:nvPr/>
          </p:nvCxnSpPr>
          <p:spPr>
            <a:xfrm flipH="1" rot="10800000">
              <a:off x="2376489" y="3657466"/>
              <a:ext cx="868800" cy="718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65" name="Google Shape;265;p33"/>
            <p:cNvCxnSpPr/>
            <p:nvPr/>
          </p:nvCxnSpPr>
          <p:spPr>
            <a:xfrm>
              <a:off x="4114800" y="3429000"/>
              <a:ext cx="914400" cy="1588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261" name="Google Shape;261;p33"/>
            <p:cNvSpPr txBox="1"/>
            <p:nvPr/>
          </p:nvSpPr>
          <p:spPr>
            <a:xfrm>
              <a:off x="1524000" y="2667000"/>
              <a:ext cx="37702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x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66" name="Google Shape;266;p33"/>
            <p:cNvSpPr txBox="1"/>
            <p:nvPr/>
          </p:nvSpPr>
          <p:spPr>
            <a:xfrm>
              <a:off x="1447800" y="3581400"/>
              <a:ext cx="37702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x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64" name="Google Shape;264;p33"/>
            <p:cNvSpPr txBox="1"/>
            <p:nvPr/>
          </p:nvSpPr>
          <p:spPr>
            <a:xfrm>
              <a:off x="1752600" y="4191000"/>
              <a:ext cx="623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b=-1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67" name="Google Shape;267;p33"/>
            <p:cNvSpPr txBox="1"/>
            <p:nvPr/>
          </p:nvSpPr>
          <p:spPr>
            <a:xfrm>
              <a:off x="5105400" y="3200400"/>
              <a:ext cx="3000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y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68" name="Google Shape;268;p33"/>
            <p:cNvSpPr txBox="1"/>
            <p:nvPr/>
          </p:nvSpPr>
          <p:spPr>
            <a:xfrm>
              <a:off x="2209800" y="2590800"/>
              <a:ext cx="6832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w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=3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69" name="Google Shape;269;p33"/>
            <p:cNvSpPr txBox="1"/>
            <p:nvPr/>
          </p:nvSpPr>
          <p:spPr>
            <a:xfrm>
              <a:off x="2057400" y="3200400"/>
              <a:ext cx="6832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w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=3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cxnSp>
          <p:nvCxnSpPr>
            <p:cNvPr id="270" name="Google Shape;270;p33"/>
            <p:cNvCxnSpPr>
              <a:stCxn id="259" idx="0"/>
              <a:endCxn id="259" idx="4"/>
            </p:cNvCxnSpPr>
            <p:nvPr/>
          </p:nvCxnSpPr>
          <p:spPr>
            <a:xfrm>
              <a:off x="3657600" y="2971800"/>
              <a:ext cx="0" cy="91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271" name="Google Shape;27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76600" y="3244266"/>
              <a:ext cx="381000" cy="331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33800" y="3200400"/>
              <a:ext cx="304800" cy="3556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73" name="Google Shape;273;p33"/>
          <p:cNvGraphicFramePr/>
          <p:nvPr/>
        </p:nvGraphicFramePr>
        <p:xfrm>
          <a:off x="923924" y="11393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{C83591FC-C83D-4445-B601-26CE026C29E6}</a:tableStyleId>
              </a:tblPr>
              <a:tblGrid>
                <a:gridCol w="1259775"/>
                <a:gridCol w="866525"/>
                <a:gridCol w="866525"/>
                <a:gridCol w="889975"/>
                <a:gridCol w="594750"/>
                <a:gridCol w="452025"/>
                <a:gridCol w="1745725"/>
                <a:gridCol w="1656700"/>
                <a:gridCol w="1602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Input</a:t>
                      </a:r>
                      <a:endParaRPr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w</a:t>
                      </a:r>
                      <a:r>
                        <a:rPr baseline="-25000"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(old)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w</a:t>
                      </a:r>
                      <a:r>
                        <a:rPr baseline="-25000"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(old)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(old)</a:t>
                      </a:r>
                      <a:endParaRPr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v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y</a:t>
                      </a:r>
                      <a:endParaRPr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w</a:t>
                      </a:r>
                      <a:r>
                        <a:rPr baseline="-25000"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 </a:t>
                      </a: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(new)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w</a:t>
                      </a:r>
                      <a:r>
                        <a:rPr baseline="-25000"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</a:t>
                      </a: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(new)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b</a:t>
                      </a: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(new)</a:t>
                      </a:r>
                      <a:endParaRPr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(1,1,1)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1+1*2*1=3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1+1*2*1=3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-3+1*2=-1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(1,-1,-1)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3+1*0*1=3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3+1*0*-1=3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-1+1*0=-1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(-1,1,-1)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2+1*0*-1=3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3+1*0*1=3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-1+1*0=-1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(-1,-1,-1)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-7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3+1*0*-1=3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3+1*0*-1=3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-1+1*0=-1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74" name="Google Shape;274;p33"/>
          <p:cNvSpPr/>
          <p:nvPr/>
        </p:nvSpPr>
        <p:spPr>
          <a:xfrm>
            <a:off x="2169316" y="2143125"/>
            <a:ext cx="8435122" cy="1051994"/>
          </a:xfrm>
          <a:prstGeom prst="rect">
            <a:avLst/>
          </a:prstGeom>
          <a:noFill/>
          <a:ln cap="flat" cmpd="sng" w="63500">
            <a:solidFill>
              <a:schemeClr val="accent4">
                <a:alpha val="98039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9408749" y="4919034"/>
            <a:ext cx="2157697" cy="1787009"/>
          </a:xfrm>
          <a:prstGeom prst="wedgeEllipseCallout">
            <a:avLst>
              <a:gd fmla="val -60038" name="adj1"/>
              <a:gd fmla="val -141875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update in weights and bias so solution is obtained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04f66d5eb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ook Antiqua"/>
              <a:buNone/>
            </a:pPr>
            <a:r>
              <a:rPr lang="en-US" sz="4200">
                <a:latin typeface="Book Antiqua"/>
                <a:ea typeface="Book Antiqua"/>
                <a:cs typeface="Book Antiqua"/>
                <a:sym typeface="Book Antiqua"/>
              </a:rPr>
              <a:t>Try </a:t>
            </a:r>
            <a:r>
              <a:rPr lang="en-US" sz="4200">
                <a:latin typeface="Book Antiqua"/>
                <a:ea typeface="Book Antiqua"/>
                <a:cs typeface="Book Antiqua"/>
                <a:sym typeface="Book Antiqua"/>
              </a:rPr>
              <a:t>Realizing XOR gate using the perceptron </a:t>
            </a:r>
            <a:endParaRPr/>
          </a:p>
        </p:txBody>
      </p:sp>
      <p:pic>
        <p:nvPicPr>
          <p:cNvPr id="282" name="Google Shape;282;g3d04f66d5e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4850" y="4253075"/>
            <a:ext cx="3481450" cy="2396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g3d04f66d5eb_0_0"/>
          <p:cNvGrpSpPr/>
          <p:nvPr/>
        </p:nvGrpSpPr>
        <p:grpSpPr>
          <a:xfrm>
            <a:off x="838200" y="1825625"/>
            <a:ext cx="3957600" cy="1969500"/>
            <a:chOff x="1447800" y="2590800"/>
            <a:chExt cx="3957600" cy="1969500"/>
          </a:xfrm>
        </p:grpSpPr>
        <p:sp>
          <p:nvSpPr>
            <p:cNvPr id="284" name="Google Shape;284;g3d04f66d5eb_0_0"/>
            <p:cNvSpPr/>
            <p:nvPr/>
          </p:nvSpPr>
          <p:spPr>
            <a:xfrm>
              <a:off x="1509956" y="3967169"/>
              <a:ext cx="18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g3d04f66d5eb_0_0"/>
            <p:cNvSpPr/>
            <p:nvPr/>
          </p:nvSpPr>
          <p:spPr>
            <a:xfrm>
              <a:off x="3200400" y="29718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6" name="Google Shape;286;g3d04f66d5eb_0_0"/>
            <p:cNvCxnSpPr>
              <a:stCxn id="287" idx="3"/>
            </p:cNvCxnSpPr>
            <p:nvPr/>
          </p:nvCxnSpPr>
          <p:spPr>
            <a:xfrm>
              <a:off x="1901100" y="2851650"/>
              <a:ext cx="1299300" cy="424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88" name="Google Shape;288;g3d04f66d5eb_0_0"/>
            <p:cNvCxnSpPr>
              <a:endCxn id="285" idx="2"/>
            </p:cNvCxnSpPr>
            <p:nvPr/>
          </p:nvCxnSpPr>
          <p:spPr>
            <a:xfrm flipH="1" rot="10800000">
              <a:off x="1905000" y="3429000"/>
              <a:ext cx="1295400" cy="304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89" name="Google Shape;289;g3d04f66d5eb_0_0"/>
            <p:cNvCxnSpPr>
              <a:stCxn id="290" idx="3"/>
            </p:cNvCxnSpPr>
            <p:nvPr/>
          </p:nvCxnSpPr>
          <p:spPr>
            <a:xfrm flipH="1" rot="10800000">
              <a:off x="2044800" y="3657450"/>
              <a:ext cx="1200600" cy="718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91" name="Google Shape;291;g3d04f66d5eb_0_0"/>
            <p:cNvCxnSpPr/>
            <p:nvPr/>
          </p:nvCxnSpPr>
          <p:spPr>
            <a:xfrm>
              <a:off x="4114800" y="3429000"/>
              <a:ext cx="914400" cy="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287" name="Google Shape;287;g3d04f66d5eb_0_0"/>
            <p:cNvSpPr txBox="1"/>
            <p:nvPr/>
          </p:nvSpPr>
          <p:spPr>
            <a:xfrm>
              <a:off x="1524000" y="2667000"/>
              <a:ext cx="37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x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92" name="Google Shape;292;g3d04f66d5eb_0_0"/>
            <p:cNvSpPr txBox="1"/>
            <p:nvPr/>
          </p:nvSpPr>
          <p:spPr>
            <a:xfrm>
              <a:off x="1447800" y="3581400"/>
              <a:ext cx="37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x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90" name="Google Shape;290;g3d04f66d5eb_0_0"/>
            <p:cNvSpPr txBox="1"/>
            <p:nvPr/>
          </p:nvSpPr>
          <p:spPr>
            <a:xfrm>
              <a:off x="1752600" y="4191000"/>
              <a:ext cx="292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b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93" name="Google Shape;293;g3d04f66d5eb_0_0"/>
            <p:cNvSpPr txBox="1"/>
            <p:nvPr/>
          </p:nvSpPr>
          <p:spPr>
            <a:xfrm>
              <a:off x="5105400" y="3200400"/>
              <a:ext cx="3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y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94" name="Google Shape;294;g3d04f66d5eb_0_0"/>
            <p:cNvSpPr txBox="1"/>
            <p:nvPr/>
          </p:nvSpPr>
          <p:spPr>
            <a:xfrm>
              <a:off x="2209800" y="2590800"/>
              <a:ext cx="42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w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1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sp>
          <p:nvSpPr>
            <p:cNvPr id="295" name="Google Shape;295;g3d04f66d5eb_0_0"/>
            <p:cNvSpPr txBox="1"/>
            <p:nvPr/>
          </p:nvSpPr>
          <p:spPr>
            <a:xfrm>
              <a:off x="2057400" y="3200400"/>
              <a:ext cx="42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w</a:t>
              </a:r>
              <a:r>
                <a:rPr baseline="-25000" i="1" lang="en-US" sz="1800">
                  <a:solidFill>
                    <a:schemeClr val="dk1"/>
                  </a:solidFill>
                  <a:latin typeface="Book Antiqua"/>
                  <a:ea typeface="Book Antiqua"/>
                  <a:cs typeface="Book Antiqua"/>
                  <a:sym typeface="Book Antiqua"/>
                </a:rPr>
                <a:t>2</a:t>
              </a:r>
              <a:endParaRPr baseline="-25000" i="1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endParaRPr>
            </a:p>
          </p:txBody>
        </p:sp>
        <p:cxnSp>
          <p:nvCxnSpPr>
            <p:cNvPr id="296" name="Google Shape;296;g3d04f66d5eb_0_0"/>
            <p:cNvCxnSpPr>
              <a:stCxn id="285" idx="0"/>
              <a:endCxn id="285" idx="4"/>
            </p:cNvCxnSpPr>
            <p:nvPr/>
          </p:nvCxnSpPr>
          <p:spPr>
            <a:xfrm>
              <a:off x="3657600" y="2971800"/>
              <a:ext cx="0" cy="914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297" name="Google Shape;297;g3d04f66d5eb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76600" y="3244266"/>
              <a:ext cx="381000" cy="3313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g3d04f66d5eb_0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33800" y="3200400"/>
              <a:ext cx="304799" cy="3556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99" name="Google Shape;299;g3d04f66d5eb_0_0"/>
          <p:cNvGraphicFramePr/>
          <p:nvPr/>
        </p:nvGraphicFramePr>
        <p:xfrm>
          <a:off x="7259225" y="1526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{C83591FC-C83D-4445-B601-26CE026C29E6}</a:tableStyleId>
              </a:tblPr>
              <a:tblGrid>
                <a:gridCol w="1297000"/>
                <a:gridCol w="1023950"/>
                <a:gridCol w="1160475"/>
              </a:tblGrid>
              <a:tr h="50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x</a:t>
                      </a:r>
                      <a:r>
                        <a:rPr baseline="-25000" i="1" lang="en-US" sz="1800" u="none" cap="none" strike="noStrike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Book Antiqua"/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x</a:t>
                      </a:r>
                      <a:r>
                        <a:rPr baseline="-25000"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2</a:t>
                      </a:r>
                      <a:endParaRPr baseline="-25000"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Target (t) x1 AND x2</a:t>
                      </a:r>
                      <a:endParaRPr i="1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29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29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29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  <a:tr h="29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-1</a:t>
                      </a:r>
                      <a:endParaRPr i="0" sz="1800"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300" name="Google Shape;300;g3d04f66d5eb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2975" y="4549325"/>
            <a:ext cx="5022775" cy="133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04f66d5eb_0_32"/>
          <p:cNvSpPr txBox="1"/>
          <p:nvPr>
            <p:ph type="title"/>
          </p:nvPr>
        </p:nvSpPr>
        <p:spPr>
          <a:xfrm>
            <a:off x="1123950" y="3222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Book Antiqua"/>
              <a:buNone/>
            </a:pPr>
            <a:r>
              <a:rPr lang="en-US" sz="4200">
                <a:latin typeface="Book Antiqua"/>
                <a:ea typeface="Book Antiqua"/>
                <a:cs typeface="Book Antiqua"/>
                <a:sym typeface="Book Antiqua"/>
              </a:rPr>
              <a:t>XOR Problem</a:t>
            </a:r>
            <a:endParaRPr sz="42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06" name="Google Shape;306;g3d04f66d5eb_0_32"/>
          <p:cNvSpPr txBox="1"/>
          <p:nvPr>
            <p:ph idx="1" type="body"/>
          </p:nvPr>
        </p:nvSpPr>
        <p:spPr>
          <a:xfrm>
            <a:off x="1123950" y="1343025"/>
            <a:ext cx="107061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Book Antiqua"/>
                <a:ea typeface="Book Antiqua"/>
                <a:cs typeface="Book Antiqua"/>
                <a:sym typeface="Book Antiqua"/>
              </a:rPr>
              <a:t>single layer perceptron can be trained to classify patterns that is </a:t>
            </a:r>
            <a:r>
              <a:rPr b="1" lang="en-US" sz="2400">
                <a:latin typeface="Book Antiqua"/>
                <a:ea typeface="Book Antiqua"/>
                <a:cs typeface="Book Antiqua"/>
                <a:sym typeface="Book Antiqua"/>
              </a:rPr>
              <a:t>linearly separable.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Book Antiqua"/>
                <a:ea typeface="Book Antiqua"/>
                <a:cs typeface="Book Antiqua"/>
                <a:sym typeface="Book Antiqua"/>
              </a:rPr>
              <a:t>However,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>
                <a:latin typeface="Book Antiqua"/>
                <a:ea typeface="Book Antiqua"/>
                <a:cs typeface="Book Antiqua"/>
                <a:sym typeface="Book Antiqua"/>
              </a:rPr>
              <a:t>OR function  is non-linearly separable as shown in the figure given below. Thus, we can not train single layer perceptron for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>
                <a:latin typeface="Book Antiqua"/>
                <a:ea typeface="Book Antiqua"/>
                <a:cs typeface="Book Antiqua"/>
                <a:sym typeface="Book Antiqua"/>
              </a:rPr>
              <a:t>OR function. This, problem is called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>
                <a:latin typeface="Book Antiqua"/>
                <a:ea typeface="Book Antiqua"/>
                <a:cs typeface="Book Antiqua"/>
                <a:sym typeface="Book Antiqua"/>
              </a:rPr>
              <a:t>OR Problem.</a:t>
            </a:r>
            <a:endParaRPr/>
          </a:p>
          <a:p>
            <a:pPr indent="-762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07" name="Google Shape;307;g3d04f66d5eb_0_32"/>
          <p:cNvSpPr/>
          <p:nvPr/>
        </p:nvSpPr>
        <p:spPr>
          <a:xfrm>
            <a:off x="3867150" y="446722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d04f66d5eb_0_32"/>
          <p:cNvSpPr/>
          <p:nvPr/>
        </p:nvSpPr>
        <p:spPr>
          <a:xfrm>
            <a:off x="5908601" y="4959997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d04f66d5eb_0_32"/>
          <p:cNvSpPr/>
          <p:nvPr/>
        </p:nvSpPr>
        <p:spPr>
          <a:xfrm>
            <a:off x="2176706" y="499364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d04f66d5eb_0_32"/>
          <p:cNvSpPr/>
          <p:nvPr/>
        </p:nvSpPr>
        <p:spPr>
          <a:xfrm>
            <a:off x="5834422" y="4979042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d04f66d5eb_0_32"/>
          <p:cNvSpPr/>
          <p:nvPr/>
        </p:nvSpPr>
        <p:spPr>
          <a:xfrm>
            <a:off x="1970736" y="4839461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d04f66d5eb_0_32"/>
          <p:cNvSpPr/>
          <p:nvPr/>
        </p:nvSpPr>
        <p:spPr>
          <a:xfrm>
            <a:off x="5908601" y="4731397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d04f66d5eb_0_32"/>
          <p:cNvSpPr/>
          <p:nvPr/>
        </p:nvSpPr>
        <p:spPr>
          <a:xfrm>
            <a:off x="2176706" y="401479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4" name="Google Shape;314;g3d04f66d5eb_0_32"/>
          <p:cNvGrpSpPr/>
          <p:nvPr/>
        </p:nvGrpSpPr>
        <p:grpSpPr>
          <a:xfrm>
            <a:off x="3208735" y="3760827"/>
            <a:ext cx="2639615" cy="2209800"/>
            <a:chOff x="2541985" y="3713202"/>
            <a:chExt cx="2639615" cy="2209800"/>
          </a:xfrm>
        </p:grpSpPr>
        <p:cxnSp>
          <p:nvCxnSpPr>
            <p:cNvPr id="315" name="Google Shape;315;g3d04f66d5eb_0_32"/>
            <p:cNvCxnSpPr/>
            <p:nvPr/>
          </p:nvCxnSpPr>
          <p:spPr>
            <a:xfrm>
              <a:off x="3456385" y="3713202"/>
              <a:ext cx="0" cy="22098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none"/>
            </a:ln>
          </p:spPr>
        </p:cxnSp>
        <p:cxnSp>
          <p:nvCxnSpPr>
            <p:cNvPr id="316" name="Google Shape;316;g3d04f66d5eb_0_32"/>
            <p:cNvCxnSpPr/>
            <p:nvPr/>
          </p:nvCxnSpPr>
          <p:spPr>
            <a:xfrm rot="10800000">
              <a:off x="2541985" y="5084802"/>
              <a:ext cx="2438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none"/>
            </a:ln>
          </p:spPr>
        </p:cxnSp>
        <p:sp>
          <p:nvSpPr>
            <p:cNvPr id="317" name="Google Shape;317;g3d04f66d5eb_0_32"/>
            <p:cNvSpPr txBox="1"/>
            <p:nvPr/>
          </p:nvSpPr>
          <p:spPr>
            <a:xfrm>
              <a:off x="4675585" y="4551402"/>
              <a:ext cx="44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aseline="-2500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g3d04f66d5eb_0_32"/>
            <p:cNvSpPr/>
            <p:nvPr/>
          </p:nvSpPr>
          <p:spPr>
            <a:xfrm>
              <a:off x="4065985" y="4246602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g3d04f66d5eb_0_32"/>
            <p:cNvSpPr/>
            <p:nvPr/>
          </p:nvSpPr>
          <p:spPr>
            <a:xfrm>
              <a:off x="3303985" y="4246602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g3d04f66d5eb_0_32"/>
            <p:cNvSpPr/>
            <p:nvPr/>
          </p:nvSpPr>
          <p:spPr>
            <a:xfrm>
              <a:off x="3303985" y="4856202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321" name="Google Shape;321;g3d04f66d5eb_0_32"/>
            <p:cNvSpPr/>
            <p:nvPr/>
          </p:nvSpPr>
          <p:spPr>
            <a:xfrm>
              <a:off x="4065985" y="4856202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2" name="Google Shape;322;g3d04f66d5eb_0_32"/>
            <p:cNvCxnSpPr/>
            <p:nvPr/>
          </p:nvCxnSpPr>
          <p:spPr>
            <a:xfrm>
              <a:off x="2743200" y="4080165"/>
              <a:ext cx="2057400" cy="1828800"/>
            </a:xfrm>
            <a:prstGeom prst="straightConnector1">
              <a:avLst/>
            </a:prstGeom>
            <a:noFill/>
            <a:ln cap="flat" cmpd="sng" w="57150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23" name="Google Shape;323;g3d04f66d5eb_0_32"/>
            <p:cNvCxnSpPr/>
            <p:nvPr/>
          </p:nvCxnSpPr>
          <p:spPr>
            <a:xfrm>
              <a:off x="3124200" y="3733800"/>
              <a:ext cx="2057400" cy="1828800"/>
            </a:xfrm>
            <a:prstGeom prst="straightConnector1">
              <a:avLst/>
            </a:prstGeom>
            <a:noFill/>
            <a:ln cap="flat" cmpd="sng" w="57150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04f66d5eb_0_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Solving XOR  With Multilayer Perceptron</a:t>
            </a:r>
            <a:endParaRPr/>
          </a:p>
        </p:txBody>
      </p:sp>
      <p:sp>
        <p:nvSpPr>
          <p:cNvPr id="330" name="Google Shape;330;g3d04f66d5eb_0_5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g3d04f66d5eb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50" y="1465424"/>
            <a:ext cx="11663275" cy="485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04f66d5eb_0_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Solving XOR with multi layer perceptron </a:t>
            </a:r>
            <a:endParaRPr/>
          </a:p>
        </p:txBody>
      </p:sp>
      <p:graphicFrame>
        <p:nvGraphicFramePr>
          <p:cNvPr id="338" name="Google Shape;338;g3d04f66d5eb_0_61"/>
          <p:cNvGraphicFramePr/>
          <p:nvPr/>
        </p:nvGraphicFramePr>
        <p:xfrm>
          <a:off x="619125" y="169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{BB1265FE-61D2-4059-B1E3-3573D91E4EAC}</a:tableStyleId>
              </a:tblPr>
              <a:tblGrid>
                <a:gridCol w="1428750"/>
                <a:gridCol w="1993200"/>
                <a:gridCol w="1287650"/>
                <a:gridCol w="1497550"/>
                <a:gridCol w="936625"/>
                <a:gridCol w="1428750"/>
                <a:gridCol w="1428750"/>
                <a:gridCol w="1428750"/>
              </a:tblGrid>
              <a:tr h="1228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Inputs (x1​,x2​)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Hidden 1 v1​(1x1​−1x2​−1)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h1​ Outputf(v1​)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Hidden 2 v2​(−1x1​+1x2​−1)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h2​ Outputf(v2​)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Output vout​(1h1​+1h2​+1)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Final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Outputf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(vout​)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Target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(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1, 1)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1(1) - 1(1) - 1 = -1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-1(1) + 1(1) - 1 = -1 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1(-1) + 1(-1) + 1 = -1 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(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1, -1)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1(1) - 1(-1) - 1 = 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-1(1) + 1(-1) - 1 = -3 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1(1) + 1(-1) + 1 = 1 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(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-1, 1)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1(-1) - 1(1) - 1 = -3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-1(-1) + 1(1) - 1 = 1 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1(-1) + 1(1) + 1 = 1 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(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-1, -1)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1(-1) - 1(-1) - 1 = -1 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-1(-1) + 1(-1) - 1 = -1 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1(-1) + 1(-1) + 1 = -1 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1F1F"/>
                          </a:solidFill>
                        </a:rPr>
                        <a:t>-1</a:t>
                      </a:r>
                      <a:endParaRPr b="1" sz="16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"/>
          <p:cNvSpPr txBox="1"/>
          <p:nvPr>
            <p:ph type="title"/>
          </p:nvPr>
        </p:nvSpPr>
        <p:spPr>
          <a:xfrm>
            <a:off x="3848100" y="21844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2023-03-12T15:01:40Z</dcterms:created>
  <dc:creator>Sunita Parajuli</dc:creator>
</cp:coreProperties>
</file>